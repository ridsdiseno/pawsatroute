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ungee" charset="1" panose="00000000000000000000"/>
      <p:regular r:id="rId22"/>
    </p:embeddedFont>
    <p:embeddedFont>
      <p:font typeface="Questrial" charset="1" panose="02000000000000000000"/>
      <p:regular r:id="rId23"/>
    </p:embeddedFont>
    <p:embeddedFont>
      <p:font typeface="Open Sans 1 Bold" charset="1" panose="00000000000000000000"/>
      <p:regular r:id="rId24"/>
    </p:embeddedFont>
    <p:embeddedFont>
      <p:font typeface="Open Sans 2 Bold" charset="1" panose="020B0806030504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6.png" Type="http://schemas.openxmlformats.org/officeDocument/2006/relationships/image"/><Relationship Id="rId8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8.png" Type="http://schemas.openxmlformats.org/officeDocument/2006/relationships/image"/><Relationship Id="rId6" Target="../media/image9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5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78186" y="857737"/>
            <a:ext cx="16565336" cy="8571526"/>
            <a:chOff x="0" y="0"/>
            <a:chExt cx="4362887" cy="225752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257521"/>
            </a:xfrm>
            <a:custGeom>
              <a:avLst/>
              <a:gdLst/>
              <a:ahLst/>
              <a:cxnLst/>
              <a:rect r="r" b="b" t="t" l="l"/>
              <a:pathLst>
                <a:path h="2257521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252380"/>
                  </a:lnTo>
                  <a:cubicBezTo>
                    <a:pt x="4362887" y="2253744"/>
                    <a:pt x="4362345" y="2255052"/>
                    <a:pt x="4361381" y="2256016"/>
                  </a:cubicBezTo>
                  <a:cubicBezTo>
                    <a:pt x="4360417" y="2256980"/>
                    <a:pt x="4359110" y="2257521"/>
                    <a:pt x="4357746" y="2257521"/>
                  </a:cubicBezTo>
                  <a:lnTo>
                    <a:pt x="5141" y="2257521"/>
                  </a:lnTo>
                  <a:cubicBezTo>
                    <a:pt x="2302" y="2257521"/>
                    <a:pt x="0" y="2255220"/>
                    <a:pt x="0" y="2252380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343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52162" y="338138"/>
            <a:ext cx="898807" cy="2019791"/>
          </a:xfrm>
          <a:custGeom>
            <a:avLst/>
            <a:gdLst/>
            <a:ahLst/>
            <a:cxnLst/>
            <a:rect r="r" b="b" t="t" l="l"/>
            <a:pathLst>
              <a:path h="2019791" w="898807">
                <a:moveTo>
                  <a:pt x="0" y="0"/>
                </a:moveTo>
                <a:lnTo>
                  <a:pt x="898807" y="0"/>
                </a:lnTo>
                <a:lnTo>
                  <a:pt x="898807" y="2019790"/>
                </a:lnTo>
                <a:lnTo>
                  <a:pt x="0" y="20197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935342">
            <a:off x="15217366" y="6801731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483638">
            <a:off x="8424582" y="1490240"/>
            <a:ext cx="1472544" cy="1487728"/>
          </a:xfrm>
          <a:custGeom>
            <a:avLst/>
            <a:gdLst/>
            <a:ahLst/>
            <a:cxnLst/>
            <a:rect r="r" b="b" t="t" l="l"/>
            <a:pathLst>
              <a:path h="1487728" w="1472544">
                <a:moveTo>
                  <a:pt x="0" y="0"/>
                </a:moveTo>
                <a:lnTo>
                  <a:pt x="1472544" y="0"/>
                </a:lnTo>
                <a:lnTo>
                  <a:pt x="1472544" y="1487727"/>
                </a:lnTo>
                <a:lnTo>
                  <a:pt x="0" y="14877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90511" b="-89118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256013" y="3770057"/>
            <a:ext cx="13612964" cy="2183877"/>
            <a:chOff x="0" y="0"/>
            <a:chExt cx="3211853" cy="5152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211853" cy="515266"/>
            </a:xfrm>
            <a:custGeom>
              <a:avLst/>
              <a:gdLst/>
              <a:ahLst/>
              <a:cxnLst/>
              <a:rect r="r" b="b" t="t" l="l"/>
              <a:pathLst>
                <a:path h="515266" w="3211853">
                  <a:moveTo>
                    <a:pt x="6825" y="0"/>
                  </a:moveTo>
                  <a:lnTo>
                    <a:pt x="3205028" y="0"/>
                  </a:lnTo>
                  <a:cubicBezTo>
                    <a:pt x="3208797" y="0"/>
                    <a:pt x="3211853" y="3055"/>
                    <a:pt x="3211853" y="6825"/>
                  </a:cubicBezTo>
                  <a:lnTo>
                    <a:pt x="3211853" y="508441"/>
                  </a:lnTo>
                  <a:cubicBezTo>
                    <a:pt x="3211853" y="512210"/>
                    <a:pt x="3208797" y="515266"/>
                    <a:pt x="3205028" y="515266"/>
                  </a:cubicBezTo>
                  <a:lnTo>
                    <a:pt x="6825" y="515266"/>
                  </a:lnTo>
                  <a:cubicBezTo>
                    <a:pt x="3055" y="515266"/>
                    <a:pt x="0" y="512210"/>
                    <a:pt x="0" y="508441"/>
                  </a:cubicBezTo>
                  <a:lnTo>
                    <a:pt x="0" y="6825"/>
                  </a:lnTo>
                  <a:cubicBezTo>
                    <a:pt x="0" y="3055"/>
                    <a:pt x="3055" y="0"/>
                    <a:pt x="6825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85725"/>
              <a:ext cx="3211853" cy="60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56013" y="3916666"/>
            <a:ext cx="13612964" cy="1919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450"/>
              </a:lnSpc>
            </a:pPr>
            <a:r>
              <a:rPr lang="en-US" sz="12835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PAWS AT ROUTE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87437" y="6255855"/>
            <a:ext cx="7313127" cy="398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61"/>
              </a:lnSpc>
            </a:pPr>
            <a:r>
              <a:rPr lang="en-US" sz="2377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Avance de proyecto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56013" y="7073856"/>
            <a:ext cx="7313127" cy="1999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1"/>
              </a:lnSpc>
            </a:pPr>
            <a:r>
              <a:rPr lang="en-US" sz="2377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Integrantes:</a:t>
            </a:r>
          </a:p>
          <a:p>
            <a:pPr algn="l">
              <a:lnSpc>
                <a:spcPts val="3161"/>
              </a:lnSpc>
            </a:pPr>
            <a:r>
              <a:rPr lang="en-US" sz="2377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Mario Benedetti</a:t>
            </a:r>
          </a:p>
          <a:p>
            <a:pPr algn="l">
              <a:lnSpc>
                <a:spcPts val="3161"/>
              </a:lnSpc>
            </a:pPr>
            <a:r>
              <a:rPr lang="en-US" sz="2377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Jois Rosales</a:t>
            </a:r>
          </a:p>
          <a:p>
            <a:pPr algn="l">
              <a:lnSpc>
                <a:spcPts val="3161"/>
              </a:lnSpc>
            </a:pPr>
            <a:r>
              <a:rPr lang="en-US" sz="2377">
                <a:solidFill>
                  <a:srgbClr val="FBFEFE"/>
                </a:solidFill>
                <a:latin typeface="Questrial"/>
                <a:ea typeface="Questrial"/>
                <a:cs typeface="Questrial"/>
                <a:sym typeface="Questrial"/>
              </a:rPr>
              <a:t>Mateo Sepúlveda</a:t>
            </a:r>
          </a:p>
          <a:p>
            <a:pPr algn="ctr" marL="0" indent="0" lvl="0">
              <a:lnSpc>
                <a:spcPts val="3161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391337" y="4006250"/>
            <a:ext cx="6873141" cy="4648743"/>
          </a:xfrm>
          <a:custGeom>
            <a:avLst/>
            <a:gdLst/>
            <a:ahLst/>
            <a:cxnLst/>
            <a:rect r="r" b="b" t="t" l="l"/>
            <a:pathLst>
              <a:path h="4648743" w="6873141">
                <a:moveTo>
                  <a:pt x="0" y="0"/>
                </a:moveTo>
                <a:lnTo>
                  <a:pt x="6873141" y="0"/>
                </a:lnTo>
                <a:lnTo>
                  <a:pt x="6873141" y="4648743"/>
                </a:lnTo>
                <a:lnTo>
                  <a:pt x="0" y="46487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37710" y="1914456"/>
            <a:ext cx="14230194" cy="1588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99"/>
              </a:lnSpc>
              <a:spcBef>
                <a:spcPct val="0"/>
              </a:spcBef>
            </a:pPr>
            <a:r>
              <a:rPr lang="en-US" sz="9332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Introducción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37710" y="3763604"/>
            <a:ext cx="6384417" cy="507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6"/>
              </a:lnSpc>
            </a:pPr>
            <a:r>
              <a:rPr lang="en-US" sz="2247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Contexto:</a:t>
            </a:r>
            <a:r>
              <a:rPr lang="en-US" sz="224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Muchas personas no poseen el tiempo suficiente para pasear mascotas.</a:t>
            </a:r>
          </a:p>
          <a:p>
            <a:pPr algn="l">
              <a:lnSpc>
                <a:spcPts val="3146"/>
              </a:lnSpc>
            </a:pPr>
          </a:p>
          <a:p>
            <a:pPr algn="l">
              <a:lnSpc>
                <a:spcPts val="3146"/>
              </a:lnSpc>
            </a:pPr>
            <a:r>
              <a:rPr lang="en-US" sz="2247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Problema:</a:t>
            </a:r>
            <a:r>
              <a:rPr lang="en-US" sz="224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Falta de soluciones confiables y seguras para contratar paseadores.</a:t>
            </a:r>
          </a:p>
          <a:p>
            <a:pPr algn="l">
              <a:lnSpc>
                <a:spcPts val="3146"/>
              </a:lnSpc>
            </a:pPr>
          </a:p>
          <a:p>
            <a:pPr algn="l">
              <a:lnSpc>
                <a:spcPts val="3146"/>
              </a:lnSpc>
            </a:pPr>
            <a:r>
              <a:rPr lang="en-US" sz="2247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Propuesta:</a:t>
            </a:r>
            <a:r>
              <a:rPr lang="en-US" sz="224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Desarrollar una plataforma digital que conecte a dueños de mascotas con paseadores verificados.</a:t>
            </a:r>
          </a:p>
          <a:p>
            <a:pPr algn="l">
              <a:lnSpc>
                <a:spcPts val="3146"/>
              </a:lnSpc>
            </a:pPr>
          </a:p>
          <a:p>
            <a:pPr algn="l">
              <a:lnSpc>
                <a:spcPts val="3146"/>
              </a:lnSpc>
            </a:pPr>
            <a:r>
              <a:rPr lang="en-US" sz="2247" u="sng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Objetivo:</a:t>
            </a:r>
            <a:r>
              <a:rPr lang="en-US" sz="2247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Crear un sistema funcional, accesible y seguro, aplicando metodologías ágiles y principios de ciberseguridad.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904238" y="219173"/>
            <a:ext cx="720479" cy="1619054"/>
          </a:xfrm>
          <a:custGeom>
            <a:avLst/>
            <a:gdLst/>
            <a:ahLst/>
            <a:cxnLst/>
            <a:rect r="r" b="b" t="t" l="l"/>
            <a:pathLst>
              <a:path h="1619054" w="720479">
                <a:moveTo>
                  <a:pt x="0" y="0"/>
                </a:moveTo>
                <a:lnTo>
                  <a:pt x="720479" y="0"/>
                </a:lnTo>
                <a:lnTo>
                  <a:pt x="720479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22147">
            <a:off x="1928567" y="1283965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5462575" y="5070519"/>
            <a:ext cx="7362850" cy="251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Desarrollar MVP funcional.</a:t>
            </a:r>
          </a:p>
          <a:p>
            <a:pPr algn="l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Implementar registro, login, gestión de paseadores y usuarios.</a:t>
            </a:r>
          </a:p>
          <a:p>
            <a:pPr algn="l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Garantizar seguridad en el almacenamiento y flujo de datos.</a:t>
            </a:r>
          </a:p>
          <a:p>
            <a:pPr algn="l" marL="536534" indent="-268267" lvl="1">
              <a:lnSpc>
                <a:spcPts val="3305"/>
              </a:lnSpc>
              <a:buFont typeface="Arial"/>
              <a:buChar char="•"/>
            </a:pPr>
            <a:r>
              <a:rPr lang="en-US" sz="2485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Documentar arquitectura y decisiones técnicas.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1862262">
            <a:off x="1049632" y="6493874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0" y="0"/>
                </a:moveTo>
                <a:lnTo>
                  <a:pt x="1183605" y="0"/>
                </a:lnTo>
                <a:lnTo>
                  <a:pt x="1183605" y="2188484"/>
                </a:lnTo>
                <a:lnTo>
                  <a:pt x="0" y="21884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95383">
            <a:off x="1245255" y="1445641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4"/>
                </a:lnTo>
                <a:lnTo>
                  <a:pt x="0" y="14423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980742" y="2426314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1" y="0"/>
                </a:lnTo>
                <a:lnTo>
                  <a:pt x="1125831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119665" y="1267934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6" y="0"/>
                </a:lnTo>
                <a:lnTo>
                  <a:pt x="1068606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463598" y="1314330"/>
            <a:ext cx="11360805" cy="2895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771"/>
              </a:lnSpc>
            </a:pPr>
            <a:r>
              <a:rPr lang="en-US" sz="8976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OBJETIVOS ESPECÍFICOS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72254" y="3729749"/>
            <a:ext cx="4143492" cy="3759277"/>
          </a:xfrm>
          <a:custGeom>
            <a:avLst/>
            <a:gdLst/>
            <a:ahLst/>
            <a:cxnLst/>
            <a:rect r="r" b="b" t="t" l="l"/>
            <a:pathLst>
              <a:path h="3759277" w="4143492">
                <a:moveTo>
                  <a:pt x="0" y="0"/>
                </a:moveTo>
                <a:lnTo>
                  <a:pt x="4143492" y="0"/>
                </a:lnTo>
                <a:lnTo>
                  <a:pt x="4143492" y="3759277"/>
                </a:lnTo>
                <a:lnTo>
                  <a:pt x="0" y="375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2909" y="1748086"/>
            <a:ext cx="16962182" cy="118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40"/>
              </a:lnSpc>
            </a:pPr>
            <a:r>
              <a:rPr lang="en-US" sz="7079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SPRINT 1 Y 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221242" y="3824831"/>
            <a:ext cx="4591821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u="sng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SPRINT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61200" y="3725858"/>
            <a:ext cx="3815124" cy="63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sz="3300" u="sng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SPRINT 1</a:t>
            </a:r>
            <a:r>
              <a:rPr lang="en-US" sz="3300" u="sng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1077" y="4880575"/>
            <a:ext cx="6281794" cy="3822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1227" indent="-295613" lvl="1">
              <a:lnSpc>
                <a:spcPts val="3833"/>
              </a:lnSpc>
              <a:buFont typeface="Arial"/>
              <a:buChar char="•"/>
            </a:pP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iseñar formulario registro usuario.</a:t>
            </a:r>
          </a:p>
          <a:p>
            <a:pPr algn="l" marL="591227" indent="-295613" lvl="1">
              <a:lnSpc>
                <a:spcPts val="3833"/>
              </a:lnSpc>
              <a:buFont typeface="Arial"/>
              <a:buChar char="•"/>
            </a:pP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Diseñar formulario registro paseador.</a:t>
            </a:r>
          </a:p>
          <a:p>
            <a:pPr algn="l" marL="591227" indent="-295613" lvl="1">
              <a:lnSpc>
                <a:spcPts val="3833"/>
              </a:lnSpc>
              <a:buFont typeface="Arial"/>
              <a:buChar char="•"/>
            </a:pP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Implementar validación campos obligatorios.</a:t>
            </a:r>
          </a:p>
          <a:p>
            <a:pPr algn="l" marL="591227" indent="-295613" lvl="1">
              <a:lnSpc>
                <a:spcPts val="3833"/>
              </a:lnSpc>
              <a:buFont typeface="Arial"/>
              <a:buChar char="•"/>
            </a:pP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Lógica de login (backend).</a:t>
            </a:r>
          </a:p>
          <a:p>
            <a:pPr algn="l" marL="591227" indent="-295613" lvl="1">
              <a:lnSpc>
                <a:spcPts val="3833"/>
              </a:lnSpc>
              <a:buFont typeface="Arial"/>
              <a:buChar char="•"/>
            </a:pP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UI de login.</a:t>
            </a:r>
          </a:p>
          <a:p>
            <a:pPr algn="l" marL="591227" indent="-295613" lvl="1">
              <a:lnSpc>
                <a:spcPts val="3833"/>
              </a:lnSpc>
              <a:buFont typeface="Arial"/>
              <a:buChar char="•"/>
            </a:pPr>
            <a:r>
              <a:rPr lang="en-US" sz="2738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Pruebas flujo login.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19816" y="4825222"/>
            <a:ext cx="6317139" cy="3878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117" indent="-291059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269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iseñar vista de listado de paseadores en frontend.</a:t>
            </a:r>
          </a:p>
          <a:p>
            <a:pPr algn="l" marL="582117" indent="-291059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Probar flujo completo de autenticación.</a:t>
            </a:r>
          </a:p>
          <a:p>
            <a:pPr algn="l" marL="582117" indent="-291059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Documentar arquitectura del sistema (frontend–backend–BD).</a:t>
            </a:r>
          </a:p>
          <a:p>
            <a:pPr algn="l" marL="582117" indent="-291059" lvl="1">
              <a:lnSpc>
                <a:spcPts val="3774"/>
              </a:lnSpc>
              <a:buFont typeface="Arial"/>
              <a:buChar char="•"/>
            </a:pPr>
            <a:r>
              <a:rPr lang="en-US" sz="269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Validar correo único en BD.</a:t>
            </a:r>
          </a:p>
          <a:p>
            <a:pPr algn="l">
              <a:lnSpc>
                <a:spcPts val="4474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66685" y="3800913"/>
            <a:ext cx="7518427" cy="4586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814" indent="-316407" lvl="1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Contraseñas cifradas con bcrypt.</a:t>
            </a:r>
          </a:p>
          <a:p>
            <a:pPr algn="l" marL="632814" indent="-316407" lvl="1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Autenticación mediante tokens JWT.</a:t>
            </a:r>
          </a:p>
          <a:p>
            <a:pPr algn="l" marL="632814" indent="-316407" lvl="1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Conexión segura HTTPS.</a:t>
            </a:r>
          </a:p>
          <a:p>
            <a:pPr algn="l" marL="632814" indent="-316407" lvl="1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Control de roles: usuario, paseador y administrador.</a:t>
            </a:r>
          </a:p>
          <a:p>
            <a:pPr algn="l" marL="632814" indent="-316407" lvl="1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Validación de datos antes del almacenamiento.</a:t>
            </a:r>
          </a:p>
          <a:p>
            <a:pPr algn="l" marL="632814" indent="-316407" lvl="1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Web solo para administrador → refuerza la protección de datos.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2890" y="1424920"/>
            <a:ext cx="10866359" cy="1589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40"/>
              </a:lnSpc>
            </a:pPr>
            <a:r>
              <a:rPr lang="en-US" sz="8314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CIBERSEGURIDAD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11969249" y="1329424"/>
            <a:ext cx="4833710" cy="8631626"/>
          </a:xfrm>
          <a:custGeom>
            <a:avLst/>
            <a:gdLst/>
            <a:ahLst/>
            <a:cxnLst/>
            <a:rect r="r" b="b" t="t" l="l"/>
            <a:pathLst>
              <a:path h="8631626" w="4833710">
                <a:moveTo>
                  <a:pt x="4833710" y="0"/>
                </a:moveTo>
                <a:lnTo>
                  <a:pt x="0" y="0"/>
                </a:lnTo>
                <a:lnTo>
                  <a:pt x="0" y="8631626"/>
                </a:lnTo>
                <a:lnTo>
                  <a:pt x="4833710" y="8631626"/>
                </a:lnTo>
                <a:lnTo>
                  <a:pt x="483371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12249">
            <a:off x="11406531" y="1584893"/>
            <a:ext cx="1271671" cy="1284784"/>
          </a:xfrm>
          <a:custGeom>
            <a:avLst/>
            <a:gdLst/>
            <a:ahLst/>
            <a:cxnLst/>
            <a:rect r="r" b="b" t="t" l="l"/>
            <a:pathLst>
              <a:path h="1284784" w="1271671">
                <a:moveTo>
                  <a:pt x="0" y="0"/>
                </a:moveTo>
                <a:lnTo>
                  <a:pt x="1271671" y="0"/>
                </a:lnTo>
                <a:lnTo>
                  <a:pt x="1271671" y="1284784"/>
                </a:lnTo>
                <a:lnTo>
                  <a:pt x="0" y="12847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190695" y="4969297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46710" y="655044"/>
            <a:ext cx="8241090" cy="2213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82"/>
              </a:lnSpc>
            </a:pPr>
            <a:r>
              <a:rPr lang="en-US" sz="6679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Arquitectura del sistema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46710" y="2802336"/>
            <a:ext cx="8241090" cy="1865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32"/>
              </a:lnSpc>
              <a:spcBef>
                <a:spcPct val="0"/>
              </a:spcBef>
            </a:pPr>
            <a:r>
              <a:rPr lang="en-US" sz="266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Frontend: Nos decidimos por React junto con Tailwind CSS. Sus clases predefinidas pero muy flexibles, nos facilitó el desarrollo de una interfaz atractiva, funcional y responsiva.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904238" y="219173"/>
            <a:ext cx="720479" cy="1619054"/>
          </a:xfrm>
          <a:custGeom>
            <a:avLst/>
            <a:gdLst/>
            <a:ahLst/>
            <a:cxnLst/>
            <a:rect r="r" b="b" t="t" l="l"/>
            <a:pathLst>
              <a:path h="1619054" w="720479">
                <a:moveTo>
                  <a:pt x="0" y="0"/>
                </a:moveTo>
                <a:lnTo>
                  <a:pt x="720479" y="0"/>
                </a:lnTo>
                <a:lnTo>
                  <a:pt x="720479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44398" y="2651612"/>
            <a:ext cx="7752027" cy="5059959"/>
          </a:xfrm>
          <a:custGeom>
            <a:avLst/>
            <a:gdLst/>
            <a:ahLst/>
            <a:cxnLst/>
            <a:rect r="r" b="b" t="t" l="l"/>
            <a:pathLst>
              <a:path h="5059959" w="7752027">
                <a:moveTo>
                  <a:pt x="0" y="0"/>
                </a:moveTo>
                <a:lnTo>
                  <a:pt x="7752027" y="0"/>
                </a:lnTo>
                <a:lnTo>
                  <a:pt x="7752027" y="5059959"/>
                </a:lnTo>
                <a:lnTo>
                  <a:pt x="0" y="505995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46710" y="4934021"/>
            <a:ext cx="8241090" cy="466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2"/>
              </a:lnSpc>
              <a:spcBef>
                <a:spcPct val="0"/>
              </a:spcBef>
            </a:pPr>
            <a:r>
              <a:rPr lang="en-US" sz="2666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Backend: Para el desarrollo del backend optamos por Node.js junto con el framework Express, lo que nos permitió crear una API REST robusta, modular y segura. La base de datos utilizada fue PostgreSQL, elegida por su rendimiento y confiabilidad en entornos productivos. Además, el servidor se desplegó en Railway, lo que facilitó el trabajo colaborativo y evitó la necesidad de ejecutar el backend de forma local, garantizando un entorno accesible, estable y con despliegue continuo.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232313">
            <a:off x="16667497" y="8164058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6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6" y="2188484"/>
                </a:lnTo>
                <a:lnTo>
                  <a:pt x="1183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2452">
            <a:off x="147516" y="151678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5"/>
                </a:lnTo>
                <a:lnTo>
                  <a:pt x="0" y="144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64257" y="1265410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3181" y="107030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076" y="9066586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908206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6223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7777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6908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888" t="0" r="-3888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854666" y="1460327"/>
            <a:ext cx="457866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061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Registro e Inicio de sesión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05150" y="-43247"/>
            <a:ext cx="12477700" cy="185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20"/>
              </a:lnSpc>
            </a:pPr>
            <a:r>
              <a:rPr lang="en-US" sz="1032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Resultados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8343866" y="5613885"/>
            <a:ext cx="1571621" cy="5041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232313">
            <a:off x="16667497" y="8164058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6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6" y="2188484"/>
                </a:lnTo>
                <a:lnTo>
                  <a:pt x="1183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2452">
            <a:off x="147516" y="151678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5"/>
                </a:lnTo>
                <a:lnTo>
                  <a:pt x="0" y="144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64257" y="1265410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3181" y="107030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076" y="9066586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908206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6223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2520" t="0" r="-5525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6908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7777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995398" y="1422544"/>
            <a:ext cx="429720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061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Panel y perfil de 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05150" y="-43247"/>
            <a:ext cx="12477700" cy="185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20"/>
              </a:lnSpc>
            </a:pPr>
            <a:r>
              <a:rPr lang="en-US" sz="1032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Resultados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8343866" y="5664303"/>
            <a:ext cx="15920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232313">
            <a:off x="16667497" y="8164058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6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6" y="2188484"/>
                </a:lnTo>
                <a:lnTo>
                  <a:pt x="1183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2452">
            <a:off x="147516" y="151678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5"/>
                </a:lnTo>
                <a:lnTo>
                  <a:pt x="0" y="144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64257" y="1265410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3181" y="107030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076" y="9066586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908206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23992" y="1279497"/>
            <a:ext cx="4178872" cy="4178872"/>
          </a:xfrm>
          <a:custGeom>
            <a:avLst/>
            <a:gdLst/>
            <a:ahLst/>
            <a:cxnLst/>
            <a:rect r="r" b="b" t="t" l="l"/>
            <a:pathLst>
              <a:path h="4178872" w="4178872">
                <a:moveTo>
                  <a:pt x="0" y="0"/>
                </a:moveTo>
                <a:lnTo>
                  <a:pt x="4178872" y="0"/>
                </a:lnTo>
                <a:lnTo>
                  <a:pt x="4178872" y="4178872"/>
                </a:lnTo>
                <a:lnTo>
                  <a:pt x="0" y="41788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4714" t="-42088" r="-27406" b="-10032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959255" y="2632678"/>
            <a:ext cx="6369490" cy="1472509"/>
          </a:xfrm>
          <a:custGeom>
            <a:avLst/>
            <a:gdLst/>
            <a:ahLst/>
            <a:cxnLst/>
            <a:rect r="r" b="b" t="t" l="l"/>
            <a:pathLst>
              <a:path h="1472509" w="6369490">
                <a:moveTo>
                  <a:pt x="0" y="0"/>
                </a:moveTo>
                <a:lnTo>
                  <a:pt x="6369490" y="0"/>
                </a:lnTo>
                <a:lnTo>
                  <a:pt x="6369490" y="1472509"/>
                </a:lnTo>
                <a:lnTo>
                  <a:pt x="0" y="14725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6929" r="-16635" b="-106862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81170" y="1407319"/>
            <a:ext cx="3923228" cy="3923228"/>
          </a:xfrm>
          <a:custGeom>
            <a:avLst/>
            <a:gdLst/>
            <a:ahLst/>
            <a:cxnLst/>
            <a:rect r="r" b="b" t="t" l="l"/>
            <a:pathLst>
              <a:path h="3923228" w="3923228">
                <a:moveTo>
                  <a:pt x="0" y="0"/>
                </a:moveTo>
                <a:lnTo>
                  <a:pt x="3923228" y="0"/>
                </a:lnTo>
                <a:lnTo>
                  <a:pt x="3923228" y="3923228"/>
                </a:lnTo>
                <a:lnTo>
                  <a:pt x="0" y="39232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9453" t="-48219" r="-32580" b="-13814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785452" y="5330547"/>
            <a:ext cx="4178872" cy="4178872"/>
          </a:xfrm>
          <a:custGeom>
            <a:avLst/>
            <a:gdLst/>
            <a:ahLst/>
            <a:cxnLst/>
            <a:rect r="r" b="b" t="t" l="l"/>
            <a:pathLst>
              <a:path h="4178872" w="4178872">
                <a:moveTo>
                  <a:pt x="0" y="0"/>
                </a:moveTo>
                <a:lnTo>
                  <a:pt x="4178872" y="0"/>
                </a:lnTo>
                <a:lnTo>
                  <a:pt x="4178872" y="4178872"/>
                </a:lnTo>
                <a:lnTo>
                  <a:pt x="0" y="41788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7200" t="-37304" r="-21668" b="-1563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512127" y="6611434"/>
            <a:ext cx="4628243" cy="1617097"/>
          </a:xfrm>
          <a:custGeom>
            <a:avLst/>
            <a:gdLst/>
            <a:ahLst/>
            <a:cxnLst/>
            <a:rect r="r" b="b" t="t" l="l"/>
            <a:pathLst>
              <a:path h="1617097" w="4628243">
                <a:moveTo>
                  <a:pt x="0" y="0"/>
                </a:moveTo>
                <a:lnTo>
                  <a:pt x="4628243" y="0"/>
                </a:lnTo>
                <a:lnTo>
                  <a:pt x="4628243" y="1617097"/>
                </a:lnTo>
                <a:lnTo>
                  <a:pt x="0" y="161709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 flipV="true">
            <a:off x="5602864" y="3368933"/>
            <a:ext cx="345419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7" id="17"/>
          <p:cNvSpPr/>
          <p:nvPr/>
        </p:nvSpPr>
        <p:spPr>
          <a:xfrm>
            <a:off x="12328745" y="3368933"/>
            <a:ext cx="409051" cy="5664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18" id="18"/>
          <p:cNvSpPr/>
          <p:nvPr/>
        </p:nvSpPr>
        <p:spPr>
          <a:xfrm>
            <a:off x="8964324" y="7419983"/>
            <a:ext cx="547804" cy="958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19" id="19"/>
          <p:cNvSpPr txBox="true"/>
          <p:nvPr/>
        </p:nvSpPr>
        <p:spPr>
          <a:xfrm rot="0">
            <a:off x="7177605" y="1222347"/>
            <a:ext cx="3928824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061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Recuperar contraseña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05150" y="-285750"/>
            <a:ext cx="12477700" cy="185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20"/>
              </a:lnSpc>
            </a:pPr>
            <a:r>
              <a:rPr lang="en-US" sz="1032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Resultados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232313">
            <a:off x="16667497" y="8164058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6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6" y="2188484"/>
                </a:lnTo>
                <a:lnTo>
                  <a:pt x="1183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2452">
            <a:off x="147516" y="151678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5"/>
                </a:lnTo>
                <a:lnTo>
                  <a:pt x="0" y="144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64257" y="1265410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3181" y="107030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076" y="9066586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908206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6223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888" t="0" r="-3888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6908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888" t="0" r="-3888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05150" y="-43247"/>
            <a:ext cx="12477700" cy="185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20"/>
              </a:lnSpc>
            </a:pPr>
            <a:r>
              <a:rPr lang="en-US" sz="1032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Resultados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344370" y="1545657"/>
            <a:ext cx="359925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061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Registro de mascota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8343866" y="5593433"/>
            <a:ext cx="1530718" cy="70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232313">
            <a:off x="16667497" y="8164058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6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6" y="2188484"/>
                </a:lnTo>
                <a:lnTo>
                  <a:pt x="1183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2452">
            <a:off x="147516" y="151678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5"/>
                </a:lnTo>
                <a:lnTo>
                  <a:pt x="0" y="144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64257" y="1265410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3181" y="107030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076" y="9066586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908206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746223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8888" t="0" r="-3888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986908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8888" t="0" r="-38888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05150" y="-43247"/>
            <a:ext cx="12477700" cy="185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20"/>
              </a:lnSpc>
            </a:pPr>
            <a:r>
              <a:rPr lang="en-US" sz="1032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Resultados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845445" y="1545657"/>
            <a:ext cx="2597110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061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Publicar paseo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8343866" y="5593433"/>
            <a:ext cx="1367106" cy="7086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2232313">
            <a:off x="16667497" y="8164058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6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6" y="2188484"/>
                </a:lnTo>
                <a:lnTo>
                  <a:pt x="118360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22452">
            <a:off x="147516" y="151678"/>
            <a:ext cx="1427633" cy="1442354"/>
          </a:xfrm>
          <a:custGeom>
            <a:avLst/>
            <a:gdLst/>
            <a:ahLst/>
            <a:cxnLst/>
            <a:rect r="r" b="b" t="t" l="l"/>
            <a:pathLst>
              <a:path h="1442354" w="1427633">
                <a:moveTo>
                  <a:pt x="0" y="0"/>
                </a:moveTo>
                <a:lnTo>
                  <a:pt x="1427633" y="0"/>
                </a:lnTo>
                <a:lnTo>
                  <a:pt x="1427633" y="1442355"/>
                </a:lnTo>
                <a:lnTo>
                  <a:pt x="0" y="14423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90511" b="-89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964257" y="1265410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03181" y="107030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61076" y="9066586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908206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86908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77777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46223" y="2485824"/>
            <a:ext cx="6356958" cy="6356958"/>
          </a:xfrm>
          <a:custGeom>
            <a:avLst/>
            <a:gdLst/>
            <a:ahLst/>
            <a:cxnLst/>
            <a:rect r="r" b="b" t="t" l="l"/>
            <a:pathLst>
              <a:path h="6356958" w="6356958">
                <a:moveTo>
                  <a:pt x="0" y="0"/>
                </a:moveTo>
                <a:lnTo>
                  <a:pt x="6356958" y="0"/>
                </a:lnTo>
                <a:lnTo>
                  <a:pt x="63569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77777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905150" y="-43247"/>
            <a:ext cx="12477700" cy="185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220"/>
              </a:lnSpc>
            </a:pPr>
            <a:r>
              <a:rPr lang="en-US" sz="10328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Resultados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236023" y="1545657"/>
            <a:ext cx="3815953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05061C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Paseador toma paseo</a:t>
            </a:r>
          </a:p>
        </p:txBody>
      </p:sp>
      <p:sp>
        <p:nvSpPr>
          <p:cNvPr name="AutoShape 15" id="15"/>
          <p:cNvSpPr/>
          <p:nvPr/>
        </p:nvSpPr>
        <p:spPr>
          <a:xfrm flipV="true">
            <a:off x="8343866" y="5552530"/>
            <a:ext cx="1571621" cy="11177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41954" y="4959804"/>
            <a:ext cx="1400948" cy="789838"/>
            <a:chOff x="0" y="0"/>
            <a:chExt cx="1867931" cy="1053117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0" y="0"/>
              <a:ext cx="1867931" cy="1053117"/>
              <a:chOff x="0" y="0"/>
              <a:chExt cx="1159187" cy="653536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59187" cy="653536"/>
              </a:xfrm>
              <a:custGeom>
                <a:avLst/>
                <a:gdLst/>
                <a:ahLst/>
                <a:cxnLst/>
                <a:rect r="r" b="b" t="t" l="l"/>
                <a:pathLst>
                  <a:path h="653536" w="1159187">
                    <a:moveTo>
                      <a:pt x="36367" y="0"/>
                    </a:moveTo>
                    <a:lnTo>
                      <a:pt x="1122820" y="0"/>
                    </a:lnTo>
                    <a:cubicBezTo>
                      <a:pt x="1142905" y="0"/>
                      <a:pt x="1159187" y="16282"/>
                      <a:pt x="1159187" y="36367"/>
                    </a:cubicBezTo>
                    <a:lnTo>
                      <a:pt x="1159187" y="617169"/>
                    </a:lnTo>
                    <a:cubicBezTo>
                      <a:pt x="1159187" y="637254"/>
                      <a:pt x="1142905" y="653536"/>
                      <a:pt x="1122820" y="653536"/>
                    </a:cubicBezTo>
                    <a:lnTo>
                      <a:pt x="36367" y="653536"/>
                    </a:lnTo>
                    <a:cubicBezTo>
                      <a:pt x="16282" y="653536"/>
                      <a:pt x="0" y="637254"/>
                      <a:pt x="0" y="617169"/>
                    </a:cubicBezTo>
                    <a:lnTo>
                      <a:pt x="0" y="36367"/>
                    </a:lnTo>
                    <a:cubicBezTo>
                      <a:pt x="0" y="16282"/>
                      <a:pt x="16282" y="0"/>
                      <a:pt x="36367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9525"/>
                <a:ext cx="1159187" cy="6630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70"/>
                  </a:lnSpc>
                </a:pPr>
              </a:p>
            </p:txBody>
          </p:sp>
        </p:grpSp>
        <p:sp>
          <p:nvSpPr>
            <p:cNvPr name="TextBox 9" id="9"/>
            <p:cNvSpPr txBox="true"/>
            <p:nvPr/>
          </p:nvSpPr>
          <p:spPr>
            <a:xfrm rot="0">
              <a:off x="0" y="-26879"/>
              <a:ext cx="1823846" cy="97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962"/>
                </a:lnSpc>
                <a:spcBef>
                  <a:spcPct val="0"/>
                </a:spcBef>
              </a:pPr>
              <a:r>
                <a:rPr lang="en-US" sz="3798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0</a:t>
              </a:r>
              <a:r>
                <a:rPr lang="en-US" sz="3798" u="none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99870" y="7155873"/>
            <a:ext cx="1343032" cy="789838"/>
            <a:chOff x="0" y="0"/>
            <a:chExt cx="1790709" cy="1053117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1790709" cy="1053117"/>
              <a:chOff x="0" y="0"/>
              <a:chExt cx="1111265" cy="653536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1111265" cy="653536"/>
              </a:xfrm>
              <a:custGeom>
                <a:avLst/>
                <a:gdLst/>
                <a:ahLst/>
                <a:cxnLst/>
                <a:rect r="r" b="b" t="t" l="l"/>
                <a:pathLst>
                  <a:path h="653536" w="1111265">
                    <a:moveTo>
                      <a:pt x="37935" y="0"/>
                    </a:moveTo>
                    <a:lnTo>
                      <a:pt x="1073330" y="0"/>
                    </a:lnTo>
                    <a:cubicBezTo>
                      <a:pt x="1094281" y="0"/>
                      <a:pt x="1111265" y="16984"/>
                      <a:pt x="1111265" y="37935"/>
                    </a:cubicBezTo>
                    <a:lnTo>
                      <a:pt x="1111265" y="615601"/>
                    </a:lnTo>
                    <a:cubicBezTo>
                      <a:pt x="1111265" y="625662"/>
                      <a:pt x="1107269" y="635311"/>
                      <a:pt x="1100155" y="642425"/>
                    </a:cubicBezTo>
                    <a:cubicBezTo>
                      <a:pt x="1093040" y="649539"/>
                      <a:pt x="1083391" y="653536"/>
                      <a:pt x="1073330" y="653536"/>
                    </a:cubicBezTo>
                    <a:lnTo>
                      <a:pt x="37935" y="653536"/>
                    </a:lnTo>
                    <a:cubicBezTo>
                      <a:pt x="27874" y="653536"/>
                      <a:pt x="18225" y="649539"/>
                      <a:pt x="11111" y="642425"/>
                    </a:cubicBezTo>
                    <a:cubicBezTo>
                      <a:pt x="3997" y="635311"/>
                      <a:pt x="0" y="625662"/>
                      <a:pt x="0" y="615601"/>
                    </a:cubicBezTo>
                    <a:lnTo>
                      <a:pt x="0" y="37935"/>
                    </a:lnTo>
                    <a:cubicBezTo>
                      <a:pt x="0" y="16984"/>
                      <a:pt x="16984" y="0"/>
                      <a:pt x="37935" y="0"/>
                    </a:cubicBezTo>
                    <a:close/>
                  </a:path>
                </a:pathLst>
              </a:custGeom>
              <a:solidFill>
                <a:srgbClr val="FFBD59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28575"/>
                <a:ext cx="1111265" cy="6821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860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1131" y="-25992"/>
              <a:ext cx="1748448" cy="974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1">
                <a:lnSpc>
                  <a:spcPts val="5962"/>
                </a:lnSpc>
                <a:spcBef>
                  <a:spcPct val="0"/>
                </a:spcBef>
              </a:pPr>
              <a:r>
                <a:rPr lang="en-US" sz="3798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0</a:t>
              </a:r>
              <a:r>
                <a:rPr lang="en-US" sz="3798" u="none">
                  <a:solidFill>
                    <a:srgbClr val="FFFFFF"/>
                  </a:solidFill>
                  <a:latin typeface="Bungee"/>
                  <a:ea typeface="Bungee"/>
                  <a:cs typeface="Bungee"/>
                  <a:sym typeface="Bungee"/>
                </a:rPr>
                <a:t>2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0639339" y="1482495"/>
            <a:ext cx="5891439" cy="7431861"/>
          </a:xfrm>
          <a:custGeom>
            <a:avLst/>
            <a:gdLst/>
            <a:ahLst/>
            <a:cxnLst/>
            <a:rect r="r" b="b" t="t" l="l"/>
            <a:pathLst>
              <a:path h="7431861" w="5891439">
                <a:moveTo>
                  <a:pt x="0" y="0"/>
                </a:moveTo>
                <a:lnTo>
                  <a:pt x="5891440" y="0"/>
                </a:lnTo>
                <a:lnTo>
                  <a:pt x="5891440" y="7431861"/>
                </a:lnTo>
                <a:lnTo>
                  <a:pt x="0" y="7431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41954" y="1330095"/>
            <a:ext cx="9001599" cy="3213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25"/>
              </a:lnSpc>
            </a:pPr>
            <a:r>
              <a:rPr lang="en-US" sz="6606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Conclusiones y Feedback recibido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586480" y="5143744"/>
            <a:ext cx="6272341" cy="4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58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Sprint review - Conclusiones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573624" y="5807687"/>
            <a:ext cx="4780696" cy="1140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078" indent="-173539" lvl="1">
              <a:lnSpc>
                <a:spcPts val="2250"/>
              </a:lnSpc>
              <a:buFont typeface="Arial"/>
              <a:buChar char="•"/>
            </a:pPr>
            <a:r>
              <a:rPr lang="en-US" sz="1607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Autenticación segura completada.</a:t>
            </a:r>
          </a:p>
          <a:p>
            <a:pPr algn="l" marL="347078" indent="-173539" lvl="1">
              <a:lnSpc>
                <a:spcPts val="2250"/>
              </a:lnSpc>
              <a:buFont typeface="Arial"/>
              <a:buChar char="•"/>
            </a:pPr>
            <a:r>
              <a:rPr lang="en-US" sz="1607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 Listado de paseadores funcional.</a:t>
            </a:r>
          </a:p>
          <a:p>
            <a:pPr algn="l" marL="347078" indent="-173539" lvl="1">
              <a:lnSpc>
                <a:spcPts val="2250"/>
              </a:lnSpc>
              <a:buFont typeface="Arial"/>
              <a:buChar char="•"/>
            </a:pPr>
            <a:r>
              <a:rPr lang="en-US" sz="1607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 Conexión estable entre frontend, backend y BD.</a:t>
            </a:r>
          </a:p>
          <a:p>
            <a:pPr algn="l" marL="347078" indent="-173539" lvl="1">
              <a:lnSpc>
                <a:spcPts val="2250"/>
              </a:lnSpc>
              <a:buFont typeface="Arial"/>
              <a:buChar char="•"/>
            </a:pPr>
            <a:r>
              <a:rPr lang="en-US" sz="1607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 Arquitectura documentada y justificada.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586480" y="7328954"/>
            <a:ext cx="6272341" cy="466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2"/>
              </a:lnSpc>
            </a:pPr>
            <a:r>
              <a:rPr lang="en-US" sz="3581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Feedback recibido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86480" y="8059839"/>
            <a:ext cx="6399510" cy="854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7078" indent="-173539" lvl="1">
              <a:lnSpc>
                <a:spcPts val="2250"/>
              </a:lnSpc>
              <a:buFont typeface="Arial"/>
              <a:buChar char="•"/>
            </a:pPr>
            <a:r>
              <a:rPr lang="en-US" sz="1607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Convertir el proyecto en aplicación móvil.</a:t>
            </a:r>
          </a:p>
          <a:p>
            <a:pPr algn="l" marL="347078" indent="-173539" lvl="1">
              <a:lnSpc>
                <a:spcPts val="2250"/>
              </a:lnSpc>
              <a:buFont typeface="Arial"/>
              <a:buChar char="•"/>
            </a:pPr>
            <a:r>
              <a:rPr lang="en-US" sz="1607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Hacer la aplicación fácil de utilizar, con estilo menos serio y mas llamativa.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948694" y="1978404"/>
            <a:ext cx="5685663" cy="6330191"/>
          </a:xfrm>
          <a:custGeom>
            <a:avLst/>
            <a:gdLst/>
            <a:ahLst/>
            <a:cxnLst/>
            <a:rect r="r" b="b" t="t" l="l"/>
            <a:pathLst>
              <a:path h="6330191" w="5685663">
                <a:moveTo>
                  <a:pt x="0" y="0"/>
                </a:moveTo>
                <a:lnTo>
                  <a:pt x="5685663" y="0"/>
                </a:lnTo>
                <a:lnTo>
                  <a:pt x="5685663" y="6330192"/>
                </a:lnTo>
                <a:lnTo>
                  <a:pt x="0" y="63301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352808" y="1480408"/>
            <a:ext cx="9151997" cy="230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43"/>
              </a:lnSpc>
            </a:pPr>
            <a:r>
              <a:rPr lang="en-US" sz="6476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Retrospectiva del Sprint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2808" y="5006575"/>
            <a:ext cx="8255785" cy="140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7002" indent="-203501" lvl="1">
              <a:lnSpc>
                <a:spcPts val="2827"/>
              </a:lnSpc>
              <a:buFont typeface="Arial"/>
              <a:buChar char="•"/>
            </a:pP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Exc</a:t>
            </a: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elente integración entre capas.</a:t>
            </a:r>
          </a:p>
          <a:p>
            <a:pPr algn="just" marL="407002" indent="-203501" lvl="1">
              <a:lnSpc>
                <a:spcPts val="2827"/>
              </a:lnSpc>
              <a:buFont typeface="Arial"/>
              <a:buChar char="•"/>
            </a:pP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Buen trabajo en seguridad y estructura.</a:t>
            </a:r>
          </a:p>
          <a:p>
            <a:pPr algn="just" marL="407002" indent="-203501" lvl="1">
              <a:lnSpc>
                <a:spcPts val="2827"/>
              </a:lnSpc>
              <a:buFont typeface="Arial"/>
              <a:buChar char="•"/>
            </a:pP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Comunicación fluida entre el equipo.</a:t>
            </a:r>
          </a:p>
          <a:p>
            <a:pPr algn="just" marL="407002" indent="-203501" lvl="1">
              <a:lnSpc>
                <a:spcPts val="2827"/>
              </a:lnSpc>
              <a:buFont typeface="Arial"/>
              <a:buChar char="•"/>
            </a:pP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Trabajo equitativo por parte de los integrantes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397801" y="4341065"/>
            <a:ext cx="8255785" cy="56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2"/>
              </a:lnSpc>
              <a:spcBef>
                <a:spcPct val="0"/>
              </a:spcBef>
            </a:pPr>
            <a:r>
              <a:rPr lang="en-US" sz="3258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01. Lo que salió bien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352808" y="7531266"/>
            <a:ext cx="8255785" cy="69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7000" indent="-203500" lvl="1">
              <a:lnSpc>
                <a:spcPts val="2827"/>
              </a:lnSpc>
              <a:buFont typeface="Arial"/>
              <a:buChar char="•"/>
            </a:pP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D</a:t>
            </a: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ocumentar cambios diarios.</a:t>
            </a:r>
          </a:p>
          <a:p>
            <a:pPr algn="just" marL="407000" indent="-203500" lvl="1">
              <a:lnSpc>
                <a:spcPts val="2827"/>
              </a:lnSpc>
              <a:buFont typeface="Arial"/>
              <a:buChar char="•"/>
            </a:pPr>
            <a:r>
              <a:rPr lang="en-US" sz="1885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Mejor organización de ideas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352808" y="6861566"/>
            <a:ext cx="8345769" cy="56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2"/>
              </a:lnSpc>
              <a:spcBef>
                <a:spcPct val="0"/>
              </a:spcBef>
            </a:pPr>
            <a:r>
              <a:rPr lang="en-US" sz="3258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02. Lo que mejorar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88454" y="242305"/>
            <a:ext cx="720479" cy="1619054"/>
          </a:xfrm>
          <a:custGeom>
            <a:avLst/>
            <a:gdLst/>
            <a:ahLst/>
            <a:cxnLst/>
            <a:rect r="r" b="b" t="t" l="l"/>
            <a:pathLst>
              <a:path h="1619054" w="720479">
                <a:moveTo>
                  <a:pt x="0" y="0"/>
                </a:moveTo>
                <a:lnTo>
                  <a:pt x="720480" y="0"/>
                </a:lnTo>
                <a:lnTo>
                  <a:pt x="720480" y="1619054"/>
                </a:lnTo>
                <a:lnTo>
                  <a:pt x="0" y="1619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93356" y="1938278"/>
            <a:ext cx="6603324" cy="6700790"/>
          </a:xfrm>
          <a:custGeom>
            <a:avLst/>
            <a:gdLst/>
            <a:ahLst/>
            <a:cxnLst/>
            <a:rect r="r" b="b" t="t" l="l"/>
            <a:pathLst>
              <a:path h="6700790" w="6603324">
                <a:moveTo>
                  <a:pt x="0" y="0"/>
                </a:moveTo>
                <a:lnTo>
                  <a:pt x="6603324" y="0"/>
                </a:lnTo>
                <a:lnTo>
                  <a:pt x="6603324" y="6700789"/>
                </a:lnTo>
                <a:lnTo>
                  <a:pt x="0" y="67007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68256" y="4813103"/>
            <a:ext cx="7571957" cy="2734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527" indent="-277764" lvl="1">
              <a:lnSpc>
                <a:spcPts val="3602"/>
              </a:lnSpc>
              <a:buFont typeface="Arial"/>
              <a:buChar char="•"/>
            </a:pPr>
            <a:r>
              <a:rPr lang="en-US" sz="2573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Integrar aplicación móvil.</a:t>
            </a:r>
          </a:p>
          <a:p>
            <a:pPr algn="l" marL="555527" indent="-277764" lvl="1">
              <a:lnSpc>
                <a:spcPts val="3602"/>
              </a:lnSpc>
              <a:buFont typeface="Arial"/>
              <a:buChar char="•"/>
            </a:pPr>
            <a:r>
              <a:rPr lang="en-US" sz="2573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Separar sistema funcional Paws At Route (móvil) y sistema de administrador (página web).</a:t>
            </a:r>
          </a:p>
          <a:p>
            <a:pPr algn="l" marL="555527" indent="-277764" lvl="1">
              <a:lnSpc>
                <a:spcPts val="3602"/>
              </a:lnSpc>
              <a:buFont typeface="Arial"/>
              <a:buChar char="•"/>
            </a:pPr>
            <a:r>
              <a:rPr lang="en-US" sz="2573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Mejorar validaciones de seguridad.</a:t>
            </a:r>
          </a:p>
          <a:p>
            <a:pPr algn="l" marL="555527" indent="-277764" lvl="1">
              <a:lnSpc>
                <a:spcPts val="3602"/>
              </a:lnSpc>
              <a:buFont typeface="Arial"/>
              <a:buChar char="•"/>
            </a:pPr>
            <a:r>
              <a:rPr lang="en-US" sz="2573">
                <a:solidFill>
                  <a:srgbClr val="05061C"/>
                </a:solidFill>
                <a:latin typeface="Questrial"/>
                <a:ea typeface="Questrial"/>
                <a:cs typeface="Questrial"/>
                <a:sym typeface="Questrial"/>
              </a:rPr>
              <a:t>Incluir diagrama visual y manual técnico inicial.</a:t>
            </a:r>
          </a:p>
          <a:p>
            <a:pPr algn="l">
              <a:lnSpc>
                <a:spcPts val="3602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200926" y="1792696"/>
            <a:ext cx="8215214" cy="2508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54"/>
              </a:lnSpc>
            </a:pPr>
            <a:r>
              <a:rPr lang="en-US" sz="6824">
                <a:solidFill>
                  <a:srgbClr val="05061C"/>
                </a:solidFill>
                <a:latin typeface="Bungee"/>
                <a:ea typeface="Bungee"/>
                <a:cs typeface="Bungee"/>
                <a:sym typeface="Bungee"/>
              </a:rPr>
              <a:t>Próximos Pasos (Sprint 3)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BD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332" y="686774"/>
            <a:ext cx="16565336" cy="8913453"/>
            <a:chOff x="0" y="0"/>
            <a:chExt cx="4362887" cy="23475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62887" cy="2347576"/>
            </a:xfrm>
            <a:custGeom>
              <a:avLst/>
              <a:gdLst/>
              <a:ahLst/>
              <a:cxnLst/>
              <a:rect r="r" b="b" t="t" l="l"/>
              <a:pathLst>
                <a:path h="2347576" w="4362887">
                  <a:moveTo>
                    <a:pt x="5141" y="0"/>
                  </a:moveTo>
                  <a:lnTo>
                    <a:pt x="4357746" y="0"/>
                  </a:lnTo>
                  <a:cubicBezTo>
                    <a:pt x="4360585" y="0"/>
                    <a:pt x="4362887" y="2302"/>
                    <a:pt x="4362887" y="5141"/>
                  </a:cubicBezTo>
                  <a:lnTo>
                    <a:pt x="4362887" y="2342435"/>
                  </a:lnTo>
                  <a:cubicBezTo>
                    <a:pt x="4362887" y="2345274"/>
                    <a:pt x="4360585" y="2347576"/>
                    <a:pt x="4357746" y="2347576"/>
                  </a:cubicBezTo>
                  <a:lnTo>
                    <a:pt x="5141" y="2347576"/>
                  </a:lnTo>
                  <a:cubicBezTo>
                    <a:pt x="3777" y="2347576"/>
                    <a:pt x="2470" y="2347034"/>
                    <a:pt x="1506" y="2346070"/>
                  </a:cubicBezTo>
                  <a:cubicBezTo>
                    <a:pt x="542" y="2345106"/>
                    <a:pt x="0" y="2343799"/>
                    <a:pt x="0" y="2342435"/>
                  </a:cubicBezTo>
                  <a:lnTo>
                    <a:pt x="0" y="5141"/>
                  </a:lnTo>
                  <a:cubicBezTo>
                    <a:pt x="0" y="2302"/>
                    <a:pt x="2302" y="0"/>
                    <a:pt x="5141" y="0"/>
                  </a:cubicBezTo>
                  <a:close/>
                </a:path>
              </a:pathLst>
            </a:custGeom>
            <a:solidFill>
              <a:srgbClr val="FFFFFF"/>
            </a:solidFill>
            <a:ln w="1143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4362887" cy="24333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74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821983" y="4128762"/>
            <a:ext cx="10500648" cy="6854059"/>
          </a:xfrm>
          <a:custGeom>
            <a:avLst/>
            <a:gdLst/>
            <a:ahLst/>
            <a:cxnLst/>
            <a:rect r="r" b="b" t="t" l="l"/>
            <a:pathLst>
              <a:path h="6854059" w="10500648">
                <a:moveTo>
                  <a:pt x="0" y="0"/>
                </a:moveTo>
                <a:lnTo>
                  <a:pt x="10500647" y="0"/>
                </a:lnTo>
                <a:lnTo>
                  <a:pt x="10500647" y="6854059"/>
                </a:lnTo>
                <a:lnTo>
                  <a:pt x="0" y="68540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72118" y="3228437"/>
            <a:ext cx="11943764" cy="187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51"/>
              </a:lnSpc>
            </a:pPr>
            <a:r>
              <a:rPr lang="en-US" sz="12527">
                <a:solidFill>
                  <a:srgbClr val="000000"/>
                </a:solidFill>
                <a:latin typeface="Bungee"/>
                <a:ea typeface="Bungee"/>
                <a:cs typeface="Bungee"/>
                <a:sym typeface="Bungee"/>
              </a:rPr>
              <a:t>MUCHAS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441650" y="346982"/>
            <a:ext cx="9942178" cy="6489531"/>
          </a:xfrm>
          <a:custGeom>
            <a:avLst/>
            <a:gdLst/>
            <a:ahLst/>
            <a:cxnLst/>
            <a:rect r="r" b="b" t="t" l="l"/>
            <a:pathLst>
              <a:path h="6489531" w="9942178">
                <a:moveTo>
                  <a:pt x="0" y="0"/>
                </a:moveTo>
                <a:lnTo>
                  <a:pt x="9942178" y="0"/>
                </a:lnTo>
                <a:lnTo>
                  <a:pt x="9942178" y="6489531"/>
                </a:lnTo>
                <a:lnTo>
                  <a:pt x="0" y="648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2162" y="214313"/>
            <a:ext cx="827074" cy="1858594"/>
          </a:xfrm>
          <a:custGeom>
            <a:avLst/>
            <a:gdLst/>
            <a:ahLst/>
            <a:cxnLst/>
            <a:rect r="r" b="b" t="t" l="l"/>
            <a:pathLst>
              <a:path h="1858594" w="827074">
                <a:moveTo>
                  <a:pt x="0" y="0"/>
                </a:moveTo>
                <a:lnTo>
                  <a:pt x="827075" y="0"/>
                </a:lnTo>
                <a:lnTo>
                  <a:pt x="827075" y="1858594"/>
                </a:lnTo>
                <a:lnTo>
                  <a:pt x="0" y="1858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1935342">
            <a:off x="15277174" y="6801731"/>
            <a:ext cx="1183605" cy="2188484"/>
          </a:xfrm>
          <a:custGeom>
            <a:avLst/>
            <a:gdLst/>
            <a:ahLst/>
            <a:cxnLst/>
            <a:rect r="r" b="b" t="t" l="l"/>
            <a:pathLst>
              <a:path h="2188484" w="1183605">
                <a:moveTo>
                  <a:pt x="1183605" y="0"/>
                </a:moveTo>
                <a:lnTo>
                  <a:pt x="0" y="0"/>
                </a:lnTo>
                <a:lnTo>
                  <a:pt x="0" y="2188484"/>
                </a:lnTo>
                <a:lnTo>
                  <a:pt x="1183605" y="2188484"/>
                </a:lnTo>
                <a:lnTo>
                  <a:pt x="118360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483638">
            <a:off x="8366303" y="1722871"/>
            <a:ext cx="1555394" cy="1571433"/>
          </a:xfrm>
          <a:custGeom>
            <a:avLst/>
            <a:gdLst/>
            <a:ahLst/>
            <a:cxnLst/>
            <a:rect r="r" b="b" t="t" l="l"/>
            <a:pathLst>
              <a:path h="1571433" w="1555394">
                <a:moveTo>
                  <a:pt x="0" y="0"/>
                </a:moveTo>
                <a:lnTo>
                  <a:pt x="1555394" y="0"/>
                </a:lnTo>
                <a:lnTo>
                  <a:pt x="1555394" y="1571433"/>
                </a:lnTo>
                <a:lnTo>
                  <a:pt x="0" y="157143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90511" b="-89118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4049197" y="5229833"/>
            <a:ext cx="9976820" cy="2131480"/>
            <a:chOff x="0" y="0"/>
            <a:chExt cx="2411803" cy="5152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11804" cy="515266"/>
            </a:xfrm>
            <a:custGeom>
              <a:avLst/>
              <a:gdLst/>
              <a:ahLst/>
              <a:cxnLst/>
              <a:rect r="r" b="b" t="t" l="l"/>
              <a:pathLst>
                <a:path h="515266" w="2411804">
                  <a:moveTo>
                    <a:pt x="9312" y="0"/>
                  </a:moveTo>
                  <a:lnTo>
                    <a:pt x="2402492" y="0"/>
                  </a:lnTo>
                  <a:cubicBezTo>
                    <a:pt x="2404961" y="0"/>
                    <a:pt x="2407330" y="981"/>
                    <a:pt x="2409076" y="2727"/>
                  </a:cubicBezTo>
                  <a:cubicBezTo>
                    <a:pt x="2410822" y="4474"/>
                    <a:pt x="2411804" y="6842"/>
                    <a:pt x="2411804" y="9312"/>
                  </a:cubicBezTo>
                  <a:lnTo>
                    <a:pt x="2411804" y="505954"/>
                  </a:lnTo>
                  <a:cubicBezTo>
                    <a:pt x="2411804" y="511096"/>
                    <a:pt x="2407634" y="515266"/>
                    <a:pt x="2402492" y="515266"/>
                  </a:cubicBezTo>
                  <a:lnTo>
                    <a:pt x="9312" y="515266"/>
                  </a:lnTo>
                  <a:cubicBezTo>
                    <a:pt x="4169" y="515266"/>
                    <a:pt x="0" y="511096"/>
                    <a:pt x="0" y="505954"/>
                  </a:cubicBezTo>
                  <a:lnTo>
                    <a:pt x="0" y="9312"/>
                  </a:lnTo>
                  <a:cubicBezTo>
                    <a:pt x="0" y="4169"/>
                    <a:pt x="4169" y="0"/>
                    <a:pt x="9312" y="0"/>
                  </a:cubicBezTo>
                  <a:close/>
                </a:path>
              </a:pathLst>
            </a:custGeom>
            <a:solidFill>
              <a:srgbClr val="FFBD5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85725"/>
              <a:ext cx="2411803" cy="600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814877" y="3087777"/>
            <a:ext cx="1125832" cy="1220414"/>
          </a:xfrm>
          <a:custGeom>
            <a:avLst/>
            <a:gdLst/>
            <a:ahLst/>
            <a:cxnLst/>
            <a:rect r="r" b="b" t="t" l="l"/>
            <a:pathLst>
              <a:path h="1220414" w="1125832">
                <a:moveTo>
                  <a:pt x="0" y="0"/>
                </a:moveTo>
                <a:lnTo>
                  <a:pt x="1125832" y="0"/>
                </a:lnTo>
                <a:lnTo>
                  <a:pt x="1125832" y="1220414"/>
                </a:lnTo>
                <a:lnTo>
                  <a:pt x="0" y="12204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146471" y="5404742"/>
            <a:ext cx="9782272" cy="1872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151"/>
              </a:lnSpc>
            </a:pPr>
            <a:r>
              <a:rPr lang="en-US" sz="12527">
                <a:solidFill>
                  <a:srgbClr val="FFFFFF"/>
                </a:solidFill>
                <a:latin typeface="Bungee"/>
                <a:ea typeface="Bungee"/>
                <a:cs typeface="Bungee"/>
                <a:sym typeface="Bungee"/>
              </a:rPr>
              <a:t>GRACIAS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760149" y="1929397"/>
            <a:ext cx="1068605" cy="1158380"/>
          </a:xfrm>
          <a:custGeom>
            <a:avLst/>
            <a:gdLst/>
            <a:ahLst/>
            <a:cxnLst/>
            <a:rect r="r" b="b" t="t" l="l"/>
            <a:pathLst>
              <a:path h="1158380" w="1068605">
                <a:moveTo>
                  <a:pt x="0" y="0"/>
                </a:moveTo>
                <a:lnTo>
                  <a:pt x="1068605" y="0"/>
                </a:lnTo>
                <a:lnTo>
                  <a:pt x="1068605" y="1158380"/>
                </a:lnTo>
                <a:lnTo>
                  <a:pt x="0" y="11583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DAG1mJMO79Y</dc:identifier>
  <dcterms:modified xsi:type="dcterms:W3CDTF">2011-08-01T06:04:30Z</dcterms:modified>
  <cp:revision>1</cp:revision>
  <dc:title>Ev. 2 Capstone 2025</dc:title>
</cp:coreProperties>
</file>